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508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05740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93776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E6A3"/>
                </a:solidFill>
                <a:latin typeface="Palatino Linotype"/>
              </a:rPr>
              <a:t>TEACHER TRAINING PROGRAMME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D4AF37"/>
                </a:solidFill>
                <a:latin typeface="Palatino Linotype"/>
              </a:rPr>
              <a:t>From Effort to Excellence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9994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FFFFFF"/>
                </a:solidFill>
                <a:latin typeface="Palatino Linotype"/>
              </a:rPr>
              <a:t>A Roadmap to Academic Excellence and Outstanding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342" y="3337560"/>
            <a:ext cx="8532266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2044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1">
                <a:solidFill>
                  <a:srgbClr val="F5E6A3"/>
                </a:solidFill>
                <a:latin typeface="Palatino Linotype"/>
              </a:rPr>
              <a:t>"Excellence is never an accident; it is the result of consistent effort and strategic action."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4480560"/>
            <a:ext cx="2286000" cy="914400"/>
          </a:xfrm>
          <a:prstGeom prst="rect">
            <a:avLst/>
          </a:prstGeom>
          <a:solidFill>
            <a:srgbClr val="26336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45262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D4AF37"/>
                </a:solidFill>
                <a:latin typeface="Palatino Linotype"/>
              </a:rPr>
              <a:t>📚  Accountability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4480560"/>
            <a:ext cx="2286000" cy="914400"/>
          </a:xfrm>
          <a:prstGeom prst="rect">
            <a:avLst/>
          </a:prstGeom>
          <a:solidFill>
            <a:srgbClr val="26336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45262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D4AF37"/>
                </a:solidFill>
                <a:latin typeface="Palatino Linotype"/>
              </a:rPr>
              <a:t>🎯  Execution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4480560"/>
            <a:ext cx="2286000" cy="914400"/>
          </a:xfrm>
          <a:prstGeom prst="rect">
            <a:avLst/>
          </a:prstGeom>
          <a:solidFill>
            <a:srgbClr val="26336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45262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D4AF37"/>
                </a:solidFill>
                <a:latin typeface="Palatino Linotype"/>
              </a:rPr>
              <a:t>📊 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550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E6A3"/>
                </a:solidFill>
                <a:latin typeface="Palatino Linotype"/>
              </a:rPr>
              <a:t>Building a Result-Oriented Teaching Culture  •  All Streams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Foundation: Why We Focus on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2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Why Results Matter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50876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800"/>
              </a:spcBef>
            </a:pPr>
            <a:r>
              <a:rPr sz="1600">
                <a:solidFill>
                  <a:srgbClr val="2E2E2E"/>
                </a:solidFill>
                <a:latin typeface="Palatino Linotype"/>
              </a:rPr>
              <a:t>✦  Results reflect the true effectiveness of teaching and learning.</a:t>
            </a:r>
          </a:p>
          <a:p>
            <a:pPr algn="l">
              <a:spcBef>
                <a:spcPts val="2800"/>
              </a:spcBef>
            </a:pPr>
            <a:r>
              <a:rPr sz="1600">
                <a:solidFill>
                  <a:srgbClr val="2E2E2E"/>
                </a:solidFill>
                <a:latin typeface="Palatino Linotype"/>
              </a:rPr>
              <a:t>✦  Academic excellence builds institutional credibility and trust.</a:t>
            </a:r>
          </a:p>
          <a:p>
            <a:pPr algn="l">
              <a:spcBef>
                <a:spcPts val="2800"/>
              </a:spcBef>
            </a:pPr>
            <a:r>
              <a:rPr sz="1600">
                <a:solidFill>
                  <a:srgbClr val="2E2E2E"/>
                </a:solidFill>
                <a:latin typeface="Palatino Linotype"/>
              </a:rPr>
              <a:t>✦  Every child can improve with the right, timely intervention.</a:t>
            </a:r>
          </a:p>
          <a:p>
            <a:pPr algn="l">
              <a:spcBef>
                <a:spcPts val="2800"/>
              </a:spcBef>
            </a:pPr>
            <a:r>
              <a:rPr sz="1600">
                <a:solidFill>
                  <a:srgbClr val="2E2E2E"/>
                </a:solidFill>
                <a:latin typeface="Palatino Linotype"/>
              </a:rPr>
              <a:t>✦  Results are not produced in March — they are built throughout the year.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171" y="4434840"/>
            <a:ext cx="10360609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617720"/>
            <a:ext cx="10725912" cy="86868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90872"/>
            <a:ext cx="105430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0">
                <a:solidFill>
                  <a:srgbClr val="F5E6A3"/>
                </a:solidFill>
                <a:latin typeface="Palatino Linotype"/>
              </a:rPr>
              <a:t>"Excellence is never an accident; it is the result of consistent effort and strategic action."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The Core Formula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3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Understanding the Formula of Success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" y="1508760"/>
            <a:ext cx="2103120" cy="1417320"/>
          </a:xfrm>
          <a:prstGeom prst="rect">
            <a:avLst/>
          </a:prstGeom>
          <a:solidFill>
            <a:srgbClr val="F0E8C8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2E2E"/>
                </a:solidFill>
                <a:latin typeface="Palatino Linotype"/>
              </a:rP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" y="2103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34E"/>
                </a:solidFill>
                <a:latin typeface="Palatino Linotype"/>
              </a:rPr>
              <a:t>Effective Teaching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5204" y="1508760"/>
            <a:ext cx="2103120" cy="1417320"/>
          </a:xfrm>
          <a:prstGeom prst="rect">
            <a:avLst/>
          </a:prstGeom>
          <a:solidFill>
            <a:srgbClr val="F0E8C8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5204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2E2E"/>
                </a:solidFill>
                <a:latin typeface="Palatino Linotype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5204" y="2103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34E"/>
                </a:solidFill>
                <a:latin typeface="Palatino Linotype"/>
              </a:rPr>
              <a:t>Consistent Assessment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42916" y="1508760"/>
            <a:ext cx="2103120" cy="1417320"/>
          </a:xfrm>
          <a:prstGeom prst="rect">
            <a:avLst/>
          </a:prstGeom>
          <a:solidFill>
            <a:srgbClr val="F0E8C8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2916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2E2E"/>
                </a:solidFill>
                <a:latin typeface="Palatino Linotype"/>
              </a:rPr>
              <a:t>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2916" y="2103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34E"/>
                </a:solidFill>
                <a:latin typeface="Palatino Linotype"/>
              </a:rPr>
              <a:t>Timely Intervention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0628" y="1508760"/>
            <a:ext cx="2103120" cy="1417320"/>
          </a:xfrm>
          <a:prstGeom prst="rect">
            <a:avLst/>
          </a:prstGeom>
          <a:solidFill>
            <a:srgbClr val="F0E8C8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0628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2E2E"/>
                </a:solidFill>
                <a:latin typeface="Palatino Linotype"/>
              </a:rPr>
              <a:t>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0628" y="2103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34E"/>
                </a:solidFill>
                <a:latin typeface="Palatino Linotype"/>
              </a:rPr>
              <a:t>Parent Partnership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78340" y="1508760"/>
            <a:ext cx="2103120" cy="1417320"/>
          </a:xfrm>
          <a:prstGeom prst="rect">
            <a:avLst/>
          </a:prstGeom>
          <a:solidFill>
            <a:srgbClr val="F0E8C8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8340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2E2E"/>
                </a:solidFill>
                <a:latin typeface="Palatino Linotype"/>
              </a:rPr>
              <a:t>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8340" y="2103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34E"/>
                </a:solidFill>
                <a:latin typeface="Palatino Linotype"/>
              </a:rPr>
              <a:t>Student Accountability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171" y="3108960"/>
            <a:ext cx="10360609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246120"/>
            <a:ext cx="11091672" cy="68580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319272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E6A3"/>
                </a:solidFill>
                <a:latin typeface="Palatino Linotype"/>
              </a:rPr>
              <a:t>Achievement  =  Teaching Quality  ×  Student Effort  ×  Monitoring  × 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11480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0">
                <a:solidFill>
                  <a:srgbClr val="2E2E2E"/>
                </a:solidFill>
                <a:latin typeface="Palatino Linotype"/>
              </a:rPr>
              <a:t>Student Success = Effective Teaching + Consistent Assessment + Timely Intervention + Parent Partnership + Student Accountability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Teacher Profile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4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Characteristics of a Result-Oriented Teacher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411480" cy="4114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5087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2E2E"/>
                </a:solidFill>
                <a:latin typeface="Palatino Linotype"/>
              </a:rPr>
              <a:t>Sets clear, measurable learning goals for every topic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51760"/>
            <a:ext cx="411480" cy="4114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51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517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2E2E"/>
                </a:solidFill>
                <a:latin typeface="Palatino Linotype"/>
              </a:rPr>
              <a:t>Plans lessons meticulously — no improvisation on delivery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94760"/>
            <a:ext cx="411480" cy="4114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947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2E2E"/>
                </a:solidFill>
                <a:latin typeface="Palatino Linotype"/>
              </a:rPr>
              <a:t>Tracks every student's progress week by week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5087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2E2E"/>
                </a:solidFill>
                <a:latin typeface="Palatino Linotype"/>
              </a:rPr>
              <a:t>Uses data to make instructional decisions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411480" cy="4114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651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6517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2E2E"/>
                </a:solidFill>
                <a:latin typeface="Palatino Linotype"/>
              </a:rPr>
              <a:t>Takes complete ownership of student outcomes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94760"/>
            <a:ext cx="411480" cy="4114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794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7947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2E2E"/>
                </a:solidFill>
                <a:latin typeface="Palatino Linotype"/>
              </a:rPr>
              <a:t>Provides timely, targeted remediation without delay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Setting the North Star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5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The Power of Goal Setting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4389120" cy="59436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8191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E6A3"/>
                </a:solidFill>
                <a:latin typeface="Palatino Linotype"/>
              </a:rPr>
              <a:t>S M A R T   G O A L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194560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94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1945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2E2E"/>
                </a:solidFill>
                <a:latin typeface="Palatino Linotype"/>
              </a:rPr>
              <a:t>Specific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852928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85292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8529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2E2E"/>
                </a:solidFill>
                <a:latin typeface="Palatino Linotype"/>
              </a:rPr>
              <a:t>Measurable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11296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51129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5112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2E2E"/>
                </a:solidFill>
                <a:latin typeface="Palatino Linotype"/>
              </a:rPr>
              <a:t>Achievable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169664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16966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16966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2E2E"/>
                </a:solidFill>
                <a:latin typeface="Palatino Linotype"/>
              </a:rPr>
              <a:t>Relevant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828032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280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8280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2E2E"/>
                </a:solidFill>
                <a:latin typeface="Palatino Linotype"/>
              </a:rPr>
              <a:t>Time-bound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15087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4E"/>
                </a:solidFill>
                <a:latin typeface="Palatino Linotype"/>
              </a:rPr>
              <a:t>Target Areas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2057400"/>
            <a:ext cx="6217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Palatino Linotype"/>
              </a:rPr>
              <a:t>📚  Subject-wise targets per class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2624328"/>
            <a:ext cx="6217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Palatino Linotype"/>
              </a:rPr>
              <a:t>🏫  Class-wise average 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3191256"/>
            <a:ext cx="6217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Palatino Linotype"/>
              </a:rPr>
              <a:t>👤  Student-wise individual targets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3758184"/>
            <a:ext cx="6217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Palatino Linotype"/>
              </a:rPr>
              <a:t>🎯  100% pass percentage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325112"/>
            <a:ext cx="6217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Palatino Linotype"/>
              </a:rPr>
              <a:t>📈  Class average above 80%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4892040"/>
            <a:ext cx="6217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Palatino Linotype"/>
              </a:rPr>
              <a:t>⚠  Zero compartment / back cases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458968"/>
            <a:ext cx="6217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Palatino Linotype"/>
              </a:rPr>
              <a:t>↑  Minimum 10% improvement for every child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Planning Backwards from Success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6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Reverse Planning 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" y="1874520"/>
            <a:ext cx="1828800" cy="1828800"/>
          </a:xfrm>
          <a:prstGeom prst="rect">
            <a:avLst/>
          </a:prstGeom>
          <a:solidFill>
            <a:srgbClr val="1A234E"/>
          </a:solidFill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" y="23774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Palatino Linotype"/>
              </a:rPr>
              <a:t>Board Exam
/ Final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6332" y="2514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8860B"/>
                </a:solidFill>
                <a:latin typeface="Palatino Linotype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03804" y="1874520"/>
            <a:ext cx="1828800" cy="1828800"/>
          </a:xfrm>
          <a:prstGeom prst="rect">
            <a:avLst/>
          </a:prstGeom>
          <a:solidFill>
            <a:srgbClr val="1F4E79"/>
          </a:solidFill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9524" y="23774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Palatino Linotype"/>
              </a:rPr>
              <a:t>Pre-Board
Exams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2604" y="2514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8860B"/>
                </a:solidFill>
                <a:latin typeface="Palatino Linotype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0076" y="1874520"/>
            <a:ext cx="1828800" cy="1828800"/>
          </a:xfrm>
          <a:prstGeom prst="rect">
            <a:avLst/>
          </a:prstGeom>
          <a:solidFill>
            <a:srgbClr val="2E75B6"/>
          </a:solidFill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5796" y="23774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Palatino Linotype"/>
              </a:rPr>
              <a:t>Unit / Term
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8876" y="2514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8860B"/>
                </a:solidFill>
                <a:latin typeface="Palatino Linotype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56348" y="1874520"/>
            <a:ext cx="1828800" cy="1828800"/>
          </a:xfrm>
          <a:prstGeom prst="rect">
            <a:avLst/>
          </a:prstGeom>
          <a:solidFill>
            <a:srgbClr val="9DC3E6"/>
          </a:solidFill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2068" y="23774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1A234E"/>
                </a:solidFill>
                <a:latin typeface="Palatino Linotype"/>
              </a:rPr>
              <a:t>Weekly
Assessments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5148" y="2514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8860B"/>
                </a:solidFill>
                <a:latin typeface="Palatino Linotype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32620" y="1874520"/>
            <a:ext cx="1828800" cy="1828800"/>
          </a:xfrm>
          <a:prstGeom prst="rect">
            <a:avLst/>
          </a:prstGeom>
          <a:solidFill>
            <a:srgbClr val="D6E4F7"/>
          </a:solidFill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8340" y="23774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1A234E"/>
                </a:solidFill>
                <a:latin typeface="Palatino Linotype"/>
              </a:rPr>
              <a:t>Daily Learning
Objectives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171" y="3931920"/>
            <a:ext cx="10360609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1">
                <a:solidFill>
                  <a:srgbClr val="1A234E"/>
                </a:solidFill>
                <a:latin typeface="Palatino Linotype"/>
              </a:rPr>
              <a:t>Plan backward from the Board Exam date.  Work inward to daily objectives so every lesson has purpose.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548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  <a:latin typeface="Palatino Linotype"/>
              </a:rPr>
              <a:t>Key Principle:  Each daily lesson is a brick in the wall of the Board Exam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3-Tier Monitoring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7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Academic Monitoring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" y="1508760"/>
            <a:ext cx="3566160" cy="54864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" y="1508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D4AF37"/>
                </a:solidFill>
                <a:latin typeface="Palatino Linotype"/>
              </a:rPr>
              <a:t>🗓  Daily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" y="2057400"/>
            <a:ext cx="3566160" cy="3246120"/>
          </a:xfrm>
          <a:prstGeom prst="rect">
            <a:avLst/>
          </a:prstGeom>
          <a:solidFill>
            <a:srgbClr val="F5F0E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" y="21488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▸  Learning objectives achieved?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" y="289864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▸  Homework completion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" y="3648456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▸  Classroom participation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" y="439826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▸  Concept clarity checks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1396" y="1508760"/>
            <a:ext cx="3566160" cy="548640"/>
          </a:xfrm>
          <a:prstGeom prst="rect">
            <a:avLst/>
          </a:prstGeom>
          <a:solidFill>
            <a:srgbClr val="14537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1396" y="1508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D4AF37"/>
                </a:solidFill>
                <a:latin typeface="Palatino Linotype"/>
              </a:rPr>
              <a:t>📅  Weekly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1396" y="2057400"/>
            <a:ext cx="3566160" cy="3246120"/>
          </a:xfrm>
          <a:prstGeom prst="rect">
            <a:avLst/>
          </a:prstGeom>
          <a:solidFill>
            <a:srgbClr val="F5F0E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8556" y="21488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▸  Topic / chapter mastery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8556" y="289864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▸  Doubt resolution 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8556" y="3648456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▸  Quick assessment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8556" y="439826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▸  Weak student follow-up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4444" y="1508760"/>
            <a:ext cx="3566160" cy="548640"/>
          </a:xfrm>
          <a:prstGeom prst="rect">
            <a:avLst/>
          </a:prstGeom>
          <a:solidFill>
            <a:srgbClr val="1F4E7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4444" y="1508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D4AF37"/>
                </a:solidFill>
                <a:latin typeface="Palatino Linotype"/>
              </a:rPr>
              <a:t>📆  Monthly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4444" y="2057400"/>
            <a:ext cx="3566160" cy="3246120"/>
          </a:xfrm>
          <a:prstGeom prst="rect">
            <a:avLst/>
          </a:prstGeom>
          <a:solidFill>
            <a:srgbClr val="F5F0E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1604" y="21488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▸  Performance analysis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1604" y="289864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▸  Parent communication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1604" y="3648456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▸  Remediation effectiveness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1604" y="439826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▸  Syllabus coverage audit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760720"/>
            <a:ext cx="10725912" cy="54864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833872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F5E6A3"/>
                </a:solidFill>
                <a:latin typeface="Palatino Linotype"/>
              </a:rPr>
              <a:t>"What gets measured gets managed — and what gets managed gets improved."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Using Evidence to Drive Instruction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8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Data-Driven Teaching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1508760"/>
            <a:ext cx="2651760" cy="2377440"/>
          </a:xfrm>
          <a:prstGeom prst="rect">
            <a:avLst/>
          </a:prstGeom>
          <a:solidFill>
            <a:srgbClr val="FDF6E3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16459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2E2E"/>
                </a:solidFill>
                <a:latin typeface="Palatino Linotype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225856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  <a:latin typeface="Palatino Linotype"/>
              </a:rPr>
              <a:t>Class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9718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  <a:latin typeface="Palatino Linotype"/>
              </a:rPr>
              <a:t>Benchmark class performance against targets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9272" y="1508760"/>
            <a:ext cx="2651760" cy="2377440"/>
          </a:xfrm>
          <a:prstGeom prst="rect">
            <a:avLst/>
          </a:prstGeom>
          <a:solidFill>
            <a:srgbClr val="FDF6E3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16459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2E2E"/>
                </a:solidFill>
                <a:latin typeface="Palatino Linotype"/>
              </a:rPr>
              <a:t>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225856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  <a:latin typeface="Palatino Linotype"/>
              </a:rPr>
              <a:t>Chapter-wise
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29718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  <a:latin typeface="Palatino Linotype"/>
              </a:rPr>
              <a:t>Identify topics needing re-teaching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508760"/>
            <a:ext cx="2651760" cy="2377440"/>
          </a:xfrm>
          <a:prstGeom prst="rect">
            <a:avLst/>
          </a:prstGeom>
          <a:solidFill>
            <a:srgbClr val="FDF6E3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6459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2E2E"/>
                </a:solidFill>
                <a:latin typeface="Palatino Linotype"/>
              </a:rPr>
              <a:t>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25856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  <a:latin typeface="Palatino Linotype"/>
              </a:rPr>
              <a:t>Student-wise
Strengths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9718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  <a:latin typeface="Palatino Linotype"/>
              </a:rPr>
              <a:t>Celebrate wins, build 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16568" y="1508760"/>
            <a:ext cx="2651760" cy="2377440"/>
          </a:xfrm>
          <a:prstGeom prst="rect">
            <a:avLst/>
          </a:prstGeom>
          <a:solidFill>
            <a:srgbClr val="FDF6E3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16568" y="16459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2E2E"/>
                </a:solidFill>
                <a:latin typeface="Palatino Linotype"/>
              </a:rPr>
              <a:t>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225856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  <a:latin typeface="Palatino Linotype"/>
              </a:rPr>
              <a:t>Learning
Gaps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8008" y="29718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  <a:latin typeface="Palatino Linotype"/>
              </a:rPr>
              <a:t>Pinpoint exactly where students struggle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160520"/>
            <a:ext cx="9994392" cy="64008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233672"/>
            <a:ext cx="9811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0">
                <a:solidFill>
                  <a:srgbClr val="F5E6A3"/>
                </a:solidFill>
                <a:latin typeface="Palatino Linotype"/>
              </a:rPr>
              <a:t>"What gets measured gets improved.  Data transforms effort into results."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9834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1">
                <a:solidFill>
                  <a:srgbClr val="2E2E2E"/>
                </a:solidFill>
                <a:latin typeface="Palatino Linotype"/>
              </a:rPr>
              <a:t>Action Step: Maintain a class data register — chapter-wise marks, attendance, homework, test scores.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Differentiated Support for Every Learner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9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Identifying Learning Gaps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" y="1508760"/>
            <a:ext cx="3566160" cy="59436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" y="1508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D4AF37"/>
                </a:solidFill>
                <a:latin typeface="Palatino Linotype"/>
              </a:rPr>
              <a:t>🏆  High Achievers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" y="2103120"/>
            <a:ext cx="3566160" cy="3063240"/>
          </a:xfrm>
          <a:prstGeom prst="rect">
            <a:avLst/>
          </a:prstGeom>
          <a:solidFill>
            <a:srgbClr val="F5F0E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" y="2194560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▸  Enrichment activities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" y="2907792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▸  Competitive exam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" y="3621024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▸  Leadership &amp; peer-teaching roles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" y="4334256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▸  Advanced problem sets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1396" y="1508760"/>
            <a:ext cx="3566160" cy="594360"/>
          </a:xfrm>
          <a:prstGeom prst="rect">
            <a:avLst/>
          </a:prstGeom>
          <a:solidFill>
            <a:srgbClr val="1F4E7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1396" y="1508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D4AF37"/>
                </a:solidFill>
                <a:latin typeface="Palatino Linotype"/>
              </a:rPr>
              <a:t>📘  Average Learners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1396" y="2103120"/>
            <a:ext cx="3566160" cy="3063240"/>
          </a:xfrm>
          <a:prstGeom prst="rect">
            <a:avLst/>
          </a:prstGeom>
          <a:solidFill>
            <a:srgbClr val="F5F0E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8556" y="2194560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▸  Regular reinforcement exercises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8556" y="2907792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▸  Concept revision cycles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8556" y="3621024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▸  Structured practice sessions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8556" y="4334256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▸  Motivational goal setting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4444" y="1508760"/>
            <a:ext cx="3566160" cy="594360"/>
          </a:xfrm>
          <a:prstGeom prst="rect">
            <a:avLst/>
          </a:prstGeom>
          <a:solidFill>
            <a:srgbClr val="2E75B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4444" y="1508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D4AF37"/>
                </a:solidFill>
                <a:latin typeface="Palatino Linotype"/>
              </a:rPr>
              <a:t>💡  Slow Learners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4444" y="2103120"/>
            <a:ext cx="3566160" cy="3063240"/>
          </a:xfrm>
          <a:prstGeom prst="rect">
            <a:avLst/>
          </a:prstGeom>
          <a:solidFill>
            <a:srgbClr val="F5F0E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1604" y="2194560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▸  Intensive one-on-one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1604" y="2907792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▸  Individual mentoring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1604" y="3621024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▸  Simplified concept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1604" y="4334256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▸  Frequent positive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Closing the Gap — Step by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10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Remedial Action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" y="1508760"/>
            <a:ext cx="2103120" cy="50292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" y="1508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E6A3"/>
                </a:solidFill>
                <a:latin typeface="Palatino Linotype"/>
              </a:rPr>
              <a:t>Step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" y="2011680"/>
            <a:ext cx="2103120" cy="2011680"/>
          </a:xfrm>
          <a:prstGeom prst="rect">
            <a:avLst/>
          </a:prstGeom>
          <a:solidFill>
            <a:srgbClr val="FDF6E3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2E2E"/>
                </a:solidFill>
                <a:latin typeface="Palatino Linotype"/>
              </a:rPr>
              <a:t>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  <a:latin typeface="Palatino Linotype"/>
              </a:rPr>
              <a:t>IDENTIFY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" y="32461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E2E2E"/>
                </a:solidFill>
                <a:latin typeface="Palatino Linotype"/>
              </a:rPr>
              <a:t>Flag students scoring below threshold in each assessment.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75204" y="1508760"/>
            <a:ext cx="2103120" cy="502920"/>
          </a:xfrm>
          <a:prstGeom prst="rect">
            <a:avLst/>
          </a:prstGeom>
          <a:solidFill>
            <a:srgbClr val="1F4E7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5204" y="1508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E6A3"/>
                </a:solidFill>
                <a:latin typeface="Palatino Linotype"/>
              </a:rPr>
              <a:t>Step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5204" y="2011680"/>
            <a:ext cx="2103120" cy="2011680"/>
          </a:xfrm>
          <a:prstGeom prst="rect">
            <a:avLst/>
          </a:prstGeom>
          <a:solidFill>
            <a:srgbClr val="FDF6E3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75204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2E2E"/>
                </a:solidFill>
                <a:latin typeface="Palatino Linotype"/>
              </a:rPr>
              <a:t>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5204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  <a:latin typeface="Palatino Linotype"/>
              </a:rPr>
              <a:t>DIAGNOSE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6644" y="32461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E2E2E"/>
                </a:solidFill>
                <a:latin typeface="Palatino Linotype"/>
              </a:rPr>
              <a:t>Analyse root cause — concept gap, practice deficit, or motivation issue.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42916" y="1508760"/>
            <a:ext cx="2103120" cy="502920"/>
          </a:xfrm>
          <a:prstGeom prst="rect">
            <a:avLst/>
          </a:prstGeom>
          <a:solidFill>
            <a:srgbClr val="2E75B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2916" y="1508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E6A3"/>
                </a:solidFill>
                <a:latin typeface="Palatino Linotype"/>
              </a:rPr>
              <a:t>Step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42916" y="2011680"/>
            <a:ext cx="2103120" cy="2011680"/>
          </a:xfrm>
          <a:prstGeom prst="rect">
            <a:avLst/>
          </a:prstGeom>
          <a:solidFill>
            <a:srgbClr val="FDF6E3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2916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2E2E"/>
                </a:solidFill>
                <a:latin typeface="Palatino Linotype"/>
              </a:rPr>
              <a:t>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2916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  <a:latin typeface="Palatino Linotype"/>
              </a:rPr>
              <a:t>INTERVENE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4356" y="32461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E2E2E"/>
                </a:solidFill>
                <a:latin typeface="Palatino Linotype"/>
              </a:rPr>
              <a:t>Design targeted remedial sessions, worksheets, and peer tutoring.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0628" y="1508760"/>
            <a:ext cx="2103120" cy="502920"/>
          </a:xfrm>
          <a:prstGeom prst="rect">
            <a:avLst/>
          </a:prstGeom>
          <a:solidFill>
            <a:srgbClr val="4A86C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0628" y="1508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E6A3"/>
                </a:solidFill>
                <a:latin typeface="Palatino Linotype"/>
              </a:rPr>
              <a:t>Step 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0628" y="2011680"/>
            <a:ext cx="2103120" cy="2011680"/>
          </a:xfrm>
          <a:prstGeom prst="rect">
            <a:avLst/>
          </a:prstGeom>
          <a:solidFill>
            <a:srgbClr val="FDF6E3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0628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2E2E"/>
                </a:solidFill>
                <a:latin typeface="Palatino Linotype"/>
              </a:rPr>
              <a:t>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0628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  <a:latin typeface="Palatino Linotype"/>
              </a:rPr>
              <a:t>MONITOR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2068" y="32461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E2E2E"/>
                </a:solidFill>
                <a:latin typeface="Palatino Linotype"/>
              </a:rPr>
              <a:t>Track progress weekly; confirm improvement or escalate support.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78340" y="1508760"/>
            <a:ext cx="2103120" cy="502920"/>
          </a:xfrm>
          <a:prstGeom prst="rect">
            <a:avLst/>
          </a:prstGeom>
          <a:solidFill>
            <a:srgbClr val="9DC3E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78340" y="1508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E6A3"/>
                </a:solidFill>
                <a:latin typeface="Palatino Linotype"/>
              </a:rPr>
              <a:t>Step 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78340" y="2011680"/>
            <a:ext cx="2103120" cy="2011680"/>
          </a:xfrm>
          <a:prstGeom prst="rect">
            <a:avLst/>
          </a:prstGeom>
          <a:solidFill>
            <a:srgbClr val="FDF6E3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7834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2E2E"/>
                </a:solidFill>
                <a:latin typeface="Palatino Linotype"/>
              </a:rP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8340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  <a:latin typeface="Palatino Linotype"/>
              </a:rPr>
              <a:t>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69780" y="32461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E2E2E"/>
                </a:solidFill>
                <a:latin typeface="Palatino Linotype"/>
              </a:rPr>
              <a:t>Validate effectiveness; celebrate progress and re-set targets.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0" y="4800600"/>
            <a:ext cx="9445752" cy="59436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63040" y="4873752"/>
            <a:ext cx="9262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5E6A3"/>
                </a:solidFill>
                <a:latin typeface="Palatino Linotype"/>
              </a:rPr>
              <a:t>Remediation must be  IMMEDIATE  ·  SPECIFIC  ·  MEASURABLE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Evidence-Based Instructional Strategies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11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Classroom Strategies for Better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3566160" cy="141732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600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34E"/>
                </a:solidFill>
                <a:latin typeface="Palatino Linotype"/>
              </a:rPr>
              <a:t>🔄  Active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1031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2E2E"/>
                </a:solidFill>
                <a:latin typeface="Palatino Linotype"/>
              </a:rPr>
              <a:t>Students engage, discuss, and apply — not just listen.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1508760"/>
            <a:ext cx="3566160" cy="141732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1600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34E"/>
                </a:solidFill>
                <a:latin typeface="Palatino Linotype"/>
              </a:rPr>
              <a:t>👥  Peer Teaching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1031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2E2E"/>
                </a:solidFill>
                <a:latin typeface="Palatino Linotype"/>
              </a:rPr>
              <a:t>Students who teach retain 90% of the material.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1508760"/>
            <a:ext cx="3566160" cy="141732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6" y="1600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34E"/>
                </a:solidFill>
                <a:latin typeface="Palatino Linotype"/>
              </a:rPr>
              <a:t>🧠  Retrieval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21031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2E2E"/>
                </a:solidFill>
                <a:latin typeface="Palatino Linotype"/>
              </a:rPr>
              <a:t>Regular low-stakes quizzes dramatically boost retention.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27248"/>
            <a:ext cx="3566160" cy="141732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2186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34E"/>
                </a:solidFill>
                <a:latin typeface="Palatino Linotype"/>
              </a:rPr>
              <a:t>🗺  Concept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72160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2E2E"/>
                </a:solidFill>
                <a:latin typeface="Palatino Linotype"/>
              </a:rPr>
              <a:t>Visual connections deepen conceptual understanding.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3127248"/>
            <a:ext cx="3566160" cy="141732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32186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34E"/>
                </a:solidFill>
                <a:latin typeface="Palatino Linotype"/>
              </a:rPr>
              <a:t>✏  Regular Quizzes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372160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2E2E"/>
                </a:solidFill>
                <a:latin typeface="Palatino Linotype"/>
              </a:rPr>
              <a:t>Frequent testing reveals gaps before they widen.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7576" y="3127248"/>
            <a:ext cx="3566160" cy="141732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9016" y="32186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34E"/>
                </a:solidFill>
                <a:latin typeface="Palatino Linotype"/>
              </a:rPr>
              <a:t>⬆  HOTS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9016" y="372160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2E2E"/>
                </a:solidFill>
                <a:latin typeface="Palatino Linotype"/>
              </a:rPr>
              <a:t>Higher-order thinking prepares for board-level questions.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029200"/>
            <a:ext cx="10360152" cy="59436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102352"/>
            <a:ext cx="10177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0">
                <a:solidFill>
                  <a:srgbClr val="F5E6A3"/>
                </a:solidFill>
                <a:latin typeface="Palatino Linotype"/>
              </a:rPr>
              <a:t>Combine strategies: Teach → Quiz → Reteach → Map → Discuss → Apply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Decode the Exam — Teach with 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12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Question Paper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54480"/>
            <a:ext cx="457200" cy="4572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2E2E"/>
                </a:solidFill>
                <a:latin typeface="Palatino Linotype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508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234E"/>
                </a:solidFill>
                <a:latin typeface="Palatino Linotype"/>
              </a:rPr>
              <a:t>Analyse Question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1965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Identify which topics appear year after year.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2E2E"/>
                </a:solidFill>
                <a:latin typeface="Palatino Linotype"/>
              </a:rPr>
              <a:t>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234E"/>
                </a:solidFill>
                <a:latin typeface="Palatino Linotype"/>
              </a:rPr>
              <a:t>Frequently Asked Concepts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017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Ensure these are taught thoroughly with examples.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57600"/>
            <a:ext cx="457200" cy="4572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2E2E"/>
                </a:solidFill>
                <a:latin typeface="Palatino Linotype"/>
              </a:rPr>
              <a:t>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234E"/>
                </a:solidFill>
                <a:latin typeface="Palatino Linotype"/>
              </a:rPr>
              <a:t>Competency-Based 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069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Align teaching to application and analysis levels.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709160"/>
            <a:ext cx="457200" cy="4572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709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2E2E"/>
                </a:solidFill>
                <a:latin typeface="Palatino Linotype"/>
              </a:rPr>
              <a:t>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234E"/>
                </a:solidFill>
                <a:latin typeface="Palatino Linotype"/>
              </a:rPr>
              <a:t>Bloom's Taxonomy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20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Balance Remember, Understand, Apply, Analyse, Evaluate, Create.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577840"/>
            <a:ext cx="10725912" cy="64008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650992"/>
            <a:ext cx="10543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F5E6A3"/>
                </a:solidFill>
                <a:latin typeface="Palatino Linotype"/>
              </a:rPr>
              <a:t>"Teach what is tested.  Test what was taught.  Align every lesson to the exam blueprint."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Assessment AS Learning — Not Just OF Learning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13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Assessment for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508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4E"/>
                </a:solidFill>
                <a:latin typeface="Palatino Linotype"/>
              </a:rPr>
              <a:t>Assessment Should…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800"/>
              </a:spcBef>
            </a:pPr>
            <a:r>
              <a:rPr sz="1500">
                <a:solidFill>
                  <a:srgbClr val="2E2E2E"/>
                </a:solidFill>
                <a:latin typeface="Palatino Linotype"/>
              </a:rPr>
              <a:t>✦  Guide and adjust teaching in real time</a:t>
            </a:r>
          </a:p>
          <a:p>
            <a:pPr algn="l">
              <a:spcBef>
                <a:spcPts val="2800"/>
              </a:spcBef>
            </a:pPr>
            <a:r>
              <a:rPr sz="1500">
                <a:solidFill>
                  <a:srgbClr val="2E2E2E"/>
                </a:solidFill>
                <a:latin typeface="Palatino Linotype"/>
              </a:rPr>
              <a:t>✦  Identify individual weaknesses early</a:t>
            </a:r>
          </a:p>
          <a:p>
            <a:pPr algn="l">
              <a:spcBef>
                <a:spcPts val="2800"/>
              </a:spcBef>
            </a:pPr>
            <a:r>
              <a:rPr sz="1500">
                <a:solidFill>
                  <a:srgbClr val="2E2E2E"/>
                </a:solidFill>
                <a:latin typeface="Palatino Linotype"/>
              </a:rPr>
              <a:t>✦  Improve student understanding progressively</a:t>
            </a:r>
          </a:p>
          <a:p>
            <a:pPr algn="l">
              <a:spcBef>
                <a:spcPts val="2800"/>
              </a:spcBef>
            </a:pPr>
            <a:r>
              <a:rPr sz="1500">
                <a:solidFill>
                  <a:srgbClr val="2E2E2E"/>
                </a:solidFill>
                <a:latin typeface="Palatino Linotype"/>
              </a:rPr>
              <a:t>✦  Inform the next lesson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508760"/>
            <a:ext cx="2540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08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4E"/>
                </a:solidFill>
                <a:latin typeface="Palatino Linotype"/>
              </a:rPr>
              <a:t>Assessment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57400"/>
            <a:ext cx="5303520" cy="731520"/>
          </a:xfrm>
          <a:prstGeom prst="rect">
            <a:avLst/>
          </a:prstGeom>
          <a:solidFill>
            <a:srgbClr val="FDF6E3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1488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📝  Exit Tickets  —  Quick end-of-lesson insight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898648"/>
            <a:ext cx="5303520" cy="731520"/>
          </a:xfrm>
          <a:prstGeom prst="rect">
            <a:avLst/>
          </a:prstGeom>
          <a:solidFill>
            <a:srgbClr val="FDF6E3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90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⚡  Quick Checks  —  Mid-lesson comprehension pulse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39896"/>
            <a:ext cx="5303520" cy="731520"/>
          </a:xfrm>
          <a:prstGeom prst="rect">
            <a:avLst/>
          </a:prstGeom>
          <a:solidFill>
            <a:srgbClr val="FDF6E3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83133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📋  Weekly Tests  —  Chapter mastery verification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581144"/>
            <a:ext cx="5303520" cy="731520"/>
          </a:xfrm>
          <a:prstGeom prst="rect">
            <a:avLst/>
          </a:prstGeom>
          <a:solidFill>
            <a:srgbClr val="FDF6E3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67258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🗣  Oral Assessments  —  Speaking &amp; reasoning skills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Engaging the Third Teacher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14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Parent Partnership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600200"/>
            <a:ext cx="2286000" cy="2286000"/>
          </a:xfrm>
          <a:prstGeom prst="rect">
            <a:avLst/>
          </a:prstGeom>
          <a:solidFill>
            <a:srgbClr val="1A234E"/>
          </a:solidFill>
          <a:ln w="317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73736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  <a:latin typeface="Palatino Linotype"/>
              </a:rPr>
              <a:t>🤝
Partnership
Zone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5087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  <a:latin typeface="Palatino Linotype"/>
              </a:rPr>
              <a:t>Parents Should Know…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01168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800"/>
              </a:spcBef>
            </a:pPr>
            <a:r>
              <a:rPr sz="1450">
                <a:solidFill>
                  <a:srgbClr val="2E2E2E"/>
                </a:solidFill>
                <a:latin typeface="Palatino Linotype"/>
              </a:rPr>
              <a:t>▸  Child's academic strengths</a:t>
            </a:r>
          </a:p>
          <a:p>
            <a:pPr algn="l">
              <a:spcBef>
                <a:spcPts val="2800"/>
              </a:spcBef>
            </a:pPr>
            <a:r>
              <a:rPr sz="1450">
                <a:solidFill>
                  <a:srgbClr val="2E2E2E"/>
                </a:solidFill>
                <a:latin typeface="Palatino Linotype"/>
              </a:rPr>
              <a:t>▸  Areas requiring improvement</a:t>
            </a:r>
          </a:p>
          <a:p>
            <a:pPr algn="l">
              <a:spcBef>
                <a:spcPts val="2800"/>
              </a:spcBef>
            </a:pPr>
            <a:r>
              <a:rPr sz="1450">
                <a:solidFill>
                  <a:srgbClr val="2E2E2E"/>
                </a:solidFill>
                <a:latin typeface="Palatino Linotype"/>
              </a:rPr>
              <a:t>▸  Attendance &amp; punctuality record</a:t>
            </a:r>
          </a:p>
          <a:p>
            <a:pPr algn="l">
              <a:spcBef>
                <a:spcPts val="2800"/>
              </a:spcBef>
            </a:pPr>
            <a:r>
              <a:rPr sz="1450">
                <a:solidFill>
                  <a:srgbClr val="2E2E2E"/>
                </a:solidFill>
                <a:latin typeface="Palatino Linotype"/>
              </a:rPr>
              <a:t>▸  Personalised study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5087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  <a:latin typeface="Palatino Linotype"/>
              </a:rPr>
              <a:t>Teachers Should Do…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01168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800"/>
              </a:spcBef>
            </a:pPr>
            <a:r>
              <a:rPr sz="1450">
                <a:solidFill>
                  <a:srgbClr val="2E2E2E"/>
                </a:solidFill>
                <a:latin typeface="Palatino Linotype"/>
              </a:rPr>
              <a:t>▸  Monthly progress reports</a:t>
            </a:r>
          </a:p>
          <a:p>
            <a:pPr algn="l">
              <a:spcBef>
                <a:spcPts val="2800"/>
              </a:spcBef>
            </a:pPr>
            <a:r>
              <a:rPr sz="1450">
                <a:solidFill>
                  <a:srgbClr val="2E2E2E"/>
                </a:solidFill>
                <a:latin typeface="Palatino Linotype"/>
              </a:rPr>
              <a:t>▸  PTM with actionable feedback</a:t>
            </a:r>
          </a:p>
          <a:p>
            <a:pPr algn="l">
              <a:spcBef>
                <a:spcPts val="2800"/>
              </a:spcBef>
            </a:pPr>
            <a:r>
              <a:rPr sz="1450">
                <a:solidFill>
                  <a:srgbClr val="2E2E2E"/>
                </a:solidFill>
                <a:latin typeface="Palatino Linotype"/>
              </a:rPr>
              <a:t>▸  WhatsApp / diary communication</a:t>
            </a:r>
          </a:p>
          <a:p>
            <a:pPr algn="l">
              <a:spcBef>
                <a:spcPts val="2800"/>
              </a:spcBef>
            </a:pPr>
            <a:r>
              <a:rPr sz="1450">
                <a:solidFill>
                  <a:srgbClr val="2E2E2E"/>
                </a:solidFill>
                <a:latin typeface="Palatino Linotype"/>
              </a:rPr>
              <a:t>▸  Home-study guidance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663440"/>
            <a:ext cx="10360152" cy="68580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36592"/>
            <a:ext cx="10177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E6A3"/>
                </a:solidFill>
                <a:latin typeface="Palatino Linotype"/>
              </a:rPr>
              <a:t>Strong Parent + Teacher Collaboration  =  Dramatically Better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3212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E2E2E"/>
                </a:solidFill>
                <a:latin typeface="Palatino Linotype"/>
              </a:rPr>
              <a:t>Involve parents as partners, not just observers.  Their support at home multiplies classroom effort.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Empowering Learners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15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Building Student Ownership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508760"/>
            <a:ext cx="5349240" cy="146304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6184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E2E2E"/>
                </a:solidFill>
                <a:latin typeface="Palatino Linotype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160020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  <a:latin typeface="Palatino Linotype"/>
              </a:rPr>
              <a:t>Set Personal 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0312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Students define their own subject targets each month.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61888" y="1508760"/>
            <a:ext cx="5349240" cy="146304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16184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E2E2E"/>
                </a:solidFill>
                <a:latin typeface="Palatino Linotype"/>
              </a:rP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160020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  <a:latin typeface="Palatino Linotype"/>
              </a:rPr>
              <a:t>Track Their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210312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Maintain a personal performance tracker / chart.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172968"/>
            <a:ext cx="5349240" cy="146304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8269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E2E2E"/>
                </a:solidFill>
                <a:latin typeface="Palatino Linotype"/>
              </a:rP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264408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  <a:latin typeface="Palatino Linotype"/>
              </a:rPr>
              <a:t>Analyse Mistakes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76732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Review every wrong answer — understand the error, not just the correction.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61888" y="3172968"/>
            <a:ext cx="5349240" cy="146304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9048" y="328269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E2E2E"/>
                </a:solidFill>
                <a:latin typeface="Palatino Linotype"/>
              </a:rPr>
              <a:t>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9128" y="3264408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  <a:latin typeface="Palatino Linotype"/>
              </a:rPr>
              <a:t>Reflect Regularly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8" y="376732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Weekly self-reflection: What did I master? Where do I need more effort?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029200"/>
            <a:ext cx="10725912" cy="68580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102352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F5E6A3"/>
                </a:solidFill>
                <a:latin typeface="Palatino Linotype"/>
              </a:rPr>
              <a:t>"Teach students to own their learning — a self-driven student outperforms a pushed student every time."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The Result Improvement 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16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The 5-STAR Result Improvement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" y="1508760"/>
            <a:ext cx="2103120" cy="2926080"/>
          </a:xfrm>
          <a:prstGeom prst="rect">
            <a:avLst/>
          </a:prstGeom>
          <a:solidFill>
            <a:srgbClr val="1A234E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9576" y="1691640"/>
            <a:ext cx="685800" cy="685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9576" y="16916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Palatino Linotype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" y="25146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5E6A3"/>
                </a:solidFill>
                <a:latin typeface="Palatino Linotype"/>
              </a:rPr>
              <a:t>Set Goals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Palatino Linotype"/>
              </a:rPr>
              <a:t>Define clear, measurable targets per student, per subject.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56916" y="1508760"/>
            <a:ext cx="2103120" cy="2926080"/>
          </a:xfrm>
          <a:prstGeom prst="rect">
            <a:avLst/>
          </a:prstGeom>
          <a:solidFill>
            <a:srgbClr val="1F4E79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65576" y="1691640"/>
            <a:ext cx="685800" cy="685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65576" y="16916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Palatino Linotype"/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8356" y="25146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5E6A3"/>
                </a:solidFill>
                <a:latin typeface="Palatino Linotype"/>
              </a:rPr>
              <a:t>Track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8356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Palatino Linotype"/>
              </a:rPr>
              <a:t>Weekly data collection and trend analysis.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42916" y="1508760"/>
            <a:ext cx="2103120" cy="2926080"/>
          </a:xfrm>
          <a:prstGeom prst="rect">
            <a:avLst/>
          </a:prstGeom>
          <a:solidFill>
            <a:srgbClr val="2E75B6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51576" y="1691640"/>
            <a:ext cx="685800" cy="685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51576" y="16916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Palatino Linotype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4356" y="25146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5E6A3"/>
                </a:solidFill>
                <a:latin typeface="Palatino Linotype"/>
              </a:rPr>
              <a:t>Analyse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4356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Palatino Linotype"/>
              </a:rPr>
              <a:t>Deep-dive into performance patterns and gaps.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28916" y="1508760"/>
            <a:ext cx="2103120" cy="2926080"/>
          </a:xfrm>
          <a:prstGeom prst="rect">
            <a:avLst/>
          </a:prstGeom>
          <a:solidFill>
            <a:srgbClr val="4A86C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37576" y="1691640"/>
            <a:ext cx="685800" cy="685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7576" y="16916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Palatino Linotype"/>
              </a:rP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0356" y="25146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5E6A3"/>
                </a:solidFill>
                <a:latin typeface="Palatino Linotype"/>
              </a:rPr>
              <a:t>Remediate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0356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Palatino Linotype"/>
              </a:rPr>
              <a:t>Targeted, immediate intervention for every gap.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14916" y="1508760"/>
            <a:ext cx="2103120" cy="2926080"/>
          </a:xfrm>
          <a:prstGeom prst="rect">
            <a:avLst/>
          </a:prstGeom>
          <a:solidFill>
            <a:srgbClr val="9DC3E6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23576" y="1691640"/>
            <a:ext cx="685800" cy="685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3576" y="16916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Palatino Linotype"/>
              </a:rPr>
              <a:t>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06356" y="25146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5E6A3"/>
                </a:solidFill>
                <a:latin typeface="Palatino Linotype"/>
              </a:rPr>
              <a:t>Sustain Excellence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06356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Palatino Linotype"/>
              </a:rPr>
              <a:t>Review, celebrate, and raise the bar continuously.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617720"/>
            <a:ext cx="7616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8860B"/>
                </a:solidFill>
                <a:latin typeface="Palatino Linotype"/>
              </a:rPr>
              <a:t>⭐  S  –  T  –  A  –  R  –  S  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Professional Accountability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17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Teacher Accountability Matrix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08760"/>
            <a:ext cx="3474720" cy="50292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  <a:latin typeface="Palatino Linotype"/>
              </a:rPr>
              <a:t>Metric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31336" y="1508760"/>
            <a:ext cx="2011680" cy="50292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1336" y="15087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  <a:latin typeface="Palatino Linotype"/>
              </a:rPr>
              <a:t>Frequency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79592" y="1508760"/>
            <a:ext cx="2743200" cy="50292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9592" y="1508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  <a:latin typeface="Palatino Linotype"/>
              </a:rPr>
              <a:t>Owner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59368" y="1508760"/>
            <a:ext cx="2743200" cy="50292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9368" y="1508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  <a:latin typeface="Palatino Linotype"/>
              </a:rPr>
              <a:t>Target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011680"/>
            <a:ext cx="3474720" cy="475488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057400"/>
            <a:ext cx="3337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Student Attendance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31336" y="2011680"/>
            <a:ext cx="2011680" cy="475488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22776" y="2057400"/>
            <a:ext cx="1874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Daily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79592" y="2011680"/>
            <a:ext cx="2743200" cy="475488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71032" y="2057400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Class Teacher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59368" y="2011680"/>
            <a:ext cx="2743200" cy="475488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50808" y="2057400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≥ 95%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3474720" cy="475488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2532888"/>
            <a:ext cx="3337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Homework Completion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31336" y="2487168"/>
            <a:ext cx="2011680" cy="475488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2776" y="2532888"/>
            <a:ext cx="1874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Daily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79592" y="2487168"/>
            <a:ext cx="2743200" cy="475488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71032" y="2532888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Subject Teacher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59368" y="2487168"/>
            <a:ext cx="2743200" cy="475488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0808" y="2532888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2962656"/>
            <a:ext cx="3474720" cy="475488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008376"/>
            <a:ext cx="3337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Test / Assessment Score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31336" y="2962656"/>
            <a:ext cx="2011680" cy="475488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22776" y="3008376"/>
            <a:ext cx="1874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Weekly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79592" y="2962656"/>
            <a:ext cx="2743200" cy="475488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71032" y="3008376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Subject Teacher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59368" y="2962656"/>
            <a:ext cx="2743200" cy="475488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50808" y="3008376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Class Avg ≥ 75%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438144"/>
            <a:ext cx="3474720" cy="475488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3483864"/>
            <a:ext cx="3337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Weak Student Follow-up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31336" y="3438144"/>
            <a:ext cx="2011680" cy="475488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22776" y="3483864"/>
            <a:ext cx="1874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Weekly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79592" y="3438144"/>
            <a:ext cx="2743200" cy="475488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71032" y="3483864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Subject Teacher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59368" y="3438144"/>
            <a:ext cx="2743200" cy="475488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50808" y="3483864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Zero Left Behind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913632"/>
            <a:ext cx="3474720" cy="475488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3959352"/>
            <a:ext cx="3337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Parent Interactions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31336" y="3913632"/>
            <a:ext cx="2011680" cy="475488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22776" y="3959352"/>
            <a:ext cx="1874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Monthly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79592" y="3913632"/>
            <a:ext cx="2743200" cy="475488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71032" y="3959352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Class Teacher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59368" y="3913632"/>
            <a:ext cx="2743200" cy="475488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50808" y="3959352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Every Parent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4389120"/>
            <a:ext cx="3474720" cy="475488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4434840"/>
            <a:ext cx="3337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  <a:latin typeface="Palatino Linotype"/>
              </a:rPr>
              <a:t>Improvement Percentage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31336" y="4389120"/>
            <a:ext cx="2011680" cy="475488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22776" y="4434840"/>
            <a:ext cx="1874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Monthly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79592" y="4389120"/>
            <a:ext cx="2743200" cy="475488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71032" y="4434840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Subject Teacher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59368" y="4389120"/>
            <a:ext cx="2743200" cy="475488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50808" y="4434840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Palatino Linotype"/>
              </a:rPr>
              <a:t>≥ 10% per student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Continuous Improvement 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18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Monthly Review Mechanism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508760"/>
            <a:ext cx="5349240" cy="150876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6184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E2E2E"/>
                </a:solidFill>
                <a:latin typeface="Palatino Linotype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161848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  <a:latin typeface="Palatino Linotype"/>
              </a:rPr>
              <a:t>Subject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1488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Analyse subject-wise class average vs. target.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61888" y="1508760"/>
            <a:ext cx="5349240" cy="150876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16184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E2E2E"/>
                </a:solidFill>
                <a:latin typeface="Palatino Linotype"/>
              </a:rPr>
              <a:t>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61848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  <a:latin typeface="Palatino Linotype"/>
              </a:rPr>
              <a:t>Class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21488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Compare class progress with school benchmarks.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218688"/>
            <a:ext cx="5349240" cy="150876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2841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E2E2E"/>
                </a:solidFill>
                <a:latin typeface="Palatino Linotype"/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32841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  <a:latin typeface="Palatino Linotype"/>
              </a:rPr>
              <a:t>Improvement Trends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858768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Track month-on-month growth for each student.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61888" y="3218688"/>
            <a:ext cx="5349240" cy="1508760"/>
          </a:xfrm>
          <a:prstGeom prst="rect">
            <a:avLst/>
          </a:prstGeom>
          <a:solidFill>
            <a:srgbClr val="FDF6E3"/>
          </a:solidFill>
          <a:ln w="228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9048" y="332841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E2E2E"/>
                </a:solidFill>
                <a:latin typeface="Palatino Linotype"/>
              </a:rPr>
              <a:t>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2841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  <a:latin typeface="Palatino Linotype"/>
              </a:rPr>
              <a:t>Intervention Effectiveness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3858768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Evaluate whether remedial actions are working.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834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A234E"/>
                </a:solidFill>
                <a:latin typeface="Palatino Linotype"/>
              </a:rPr>
              <a:t>Review Cycle:  Analyse  →  Decide  →  Act  →  Monitor  →  Repeat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5577840"/>
            <a:ext cx="9994392" cy="59436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650992"/>
            <a:ext cx="9811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F5E6A3"/>
                </a:solidFill>
                <a:latin typeface="Palatino Linotype"/>
              </a:rPr>
              <a:t>Schedule a fixed Monthly Review Day — make it a non-negotiable calendar event.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What Top Teachers Do Differently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19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High-Performance Habits of Top Teachers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508760"/>
            <a:ext cx="640080" cy="8229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50876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2E2E"/>
                </a:solidFill>
                <a:latin typeface="Palatino Linotype"/>
              </a:rPr>
              <a:t>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1508760"/>
            <a:ext cx="10012680" cy="822960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1645920"/>
            <a:ext cx="9829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Palatino Linotype"/>
              </a:rPr>
              <a:t>Preparation Before Class  —  Lesson plan is finalised, resources ready, questions pre-identified.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496312"/>
            <a:ext cx="640080" cy="8229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496312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2E2E"/>
                </a:solidFill>
                <a:latin typeface="Palatino Linotype"/>
              </a:rPr>
              <a:t>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2496312"/>
            <a:ext cx="10012680" cy="822960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2633472"/>
            <a:ext cx="9829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Palatino Linotype"/>
              </a:rPr>
              <a:t>Feedback After Class  —  Reflect on what worked, what didn't, and what to adjust tomorrow.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483864"/>
            <a:ext cx="640080" cy="8229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483864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2E2E"/>
                </a:solidFill>
                <a:latin typeface="Palatino Linotype"/>
              </a:rPr>
              <a:t>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3483864"/>
            <a:ext cx="10012680" cy="822960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3621024"/>
            <a:ext cx="9829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Palatino Linotype"/>
              </a:rPr>
              <a:t>Consistency  —  Show up with the same energy and standards every single day.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471416"/>
            <a:ext cx="640080" cy="8229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471416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2E2E"/>
                </a:solidFill>
                <a:latin typeface="Palatino Linotype"/>
              </a:rPr>
              <a:t>🪞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471416"/>
            <a:ext cx="10012680" cy="822960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608576"/>
            <a:ext cx="9829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Palatino Linotype"/>
              </a:rPr>
              <a:t>Reflection  —  Weekly review: Am I achieving my targets? Where are my students stuck?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458968"/>
            <a:ext cx="640080" cy="8229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458968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2E2E"/>
                </a:solidFill>
                <a:latin typeface="Palatino Linotype"/>
              </a:rPr>
              <a:t>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5458968"/>
            <a:ext cx="10012680" cy="822960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5596128"/>
            <a:ext cx="9829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Palatino Linotype"/>
              </a:rPr>
              <a:t>Continuous Learning  —  Stay updated with pedagogy, subject developments, and exam patterns.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The Ecosystem of Excellence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20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School Excellence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1476" y="2971800"/>
            <a:ext cx="2286000" cy="1371600"/>
          </a:xfrm>
          <a:prstGeom prst="rect">
            <a:avLst/>
          </a:prstGeom>
          <a:solidFill>
            <a:srgbClr val="B8860B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1476" y="30632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alatino Linotype"/>
              </a:rPr>
              <a:t>EXCELLENT
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560320"/>
            <a:ext cx="2103120" cy="1417320"/>
          </a:xfrm>
          <a:prstGeom prst="rect">
            <a:avLst/>
          </a:prstGeom>
          <a:solidFill>
            <a:srgbClr val="1A234E"/>
          </a:solidFill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560320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E6A3"/>
                </a:solidFill>
                <a:latin typeface="Palatino Linotype"/>
              </a:rPr>
              <a:t>🏛
Visionary
Leadership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2560320"/>
            <a:ext cx="2103120" cy="1417320"/>
          </a:xfrm>
          <a:prstGeom prst="rect">
            <a:avLst/>
          </a:prstGeom>
          <a:solidFill>
            <a:srgbClr val="1A234E"/>
          </a:solidFill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2560320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E6A3"/>
                </a:solidFill>
                <a:latin typeface="Palatino Linotype"/>
              </a:rPr>
              <a:t>🎓
Effective
Teachers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560320"/>
            <a:ext cx="2103120" cy="1417320"/>
          </a:xfrm>
          <a:prstGeom prst="rect">
            <a:avLst/>
          </a:prstGeom>
          <a:solidFill>
            <a:srgbClr val="1A234E"/>
          </a:solidFill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560320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E6A3"/>
                </a:solidFill>
                <a:latin typeface="Palatino Linotype"/>
              </a:rPr>
              <a:t>🙋
Engaged
Students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560320"/>
            <a:ext cx="2103120" cy="1417320"/>
          </a:xfrm>
          <a:prstGeom prst="rect">
            <a:avLst/>
          </a:prstGeom>
          <a:solidFill>
            <a:srgbClr val="1A234E"/>
          </a:solidFill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560320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E6A3"/>
                </a:solidFill>
                <a:latin typeface="Palatino Linotype"/>
              </a:rPr>
              <a:t>👨‍👩‍👧
Supportive
Parents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60" y="5029200"/>
            <a:ext cx="2103120" cy="1417320"/>
          </a:xfrm>
          <a:prstGeom prst="rect">
            <a:avLst/>
          </a:prstGeom>
          <a:solidFill>
            <a:srgbClr val="1A234E"/>
          </a:solidFill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5029200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E6A3"/>
                </a:solidFill>
                <a:latin typeface="Palatino Linotype"/>
              </a:rPr>
              <a:t>📊
Continuous
Monitoring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A3"/>
                </a:solidFill>
                <a:latin typeface="Palatino Linotype"/>
              </a:rPr>
              <a:t>Your 90-Day Execution Roadmap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E6A3"/>
                </a:solidFill>
                <a:latin typeface="Palatino Linotype"/>
              </a:rPr>
              <a:t>Teacher Training  •  From Effort to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8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E6A3"/>
                </a:solidFill>
                <a:latin typeface="Palatino Linotype"/>
              </a:rPr>
              <a:t>21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  <a:latin typeface="Palatino Linotype"/>
              </a:rPr>
              <a:t>Action Plan — Starting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581912"/>
            <a:ext cx="50292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581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1508760"/>
            <a:ext cx="10698480" cy="777240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154533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34E"/>
                </a:solidFill>
                <a:latin typeface="Palatino Linotype"/>
              </a:rPr>
              <a:t>Define Subject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545336"/>
            <a:ext cx="6217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Set class average and pass-% targets for the term.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450592"/>
            <a:ext cx="50292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450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2377440"/>
            <a:ext cx="10698480" cy="777240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24140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34E"/>
                </a:solidFill>
                <a:latin typeface="Palatino Linotype"/>
              </a:rPr>
              <a:t>Set Class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414016"/>
            <a:ext cx="6217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Benchmark current performance; plan to exceed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319272"/>
            <a:ext cx="50292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319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3246120"/>
            <a:ext cx="10698480" cy="777240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328269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34E"/>
                </a:solidFill>
                <a:latin typeface="Palatino Linotype"/>
              </a:rPr>
              <a:t>Prepare Weak Student 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282696"/>
            <a:ext cx="6217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Identify and categorise every at-risk student.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187952"/>
            <a:ext cx="50292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1879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4114800"/>
            <a:ext cx="10698480" cy="777240"/>
          </a:xfrm>
          <a:prstGeom prst="rect">
            <a:avLst/>
          </a:prstGeom>
          <a:solidFill>
            <a:srgbClr val="F0E8C8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41513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34E"/>
                </a:solidFill>
                <a:latin typeface="Palatino Linotype"/>
              </a:rPr>
              <a:t>Design Remedial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151376"/>
            <a:ext cx="6217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Map specific interventions for each category.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056632"/>
            <a:ext cx="50292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0566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 Linotype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4983480"/>
            <a:ext cx="10698480" cy="777240"/>
          </a:xfrm>
          <a:prstGeom prst="rect">
            <a:avLst/>
          </a:prstGeom>
          <a:solidFill>
            <a:srgbClr val="FDF6E3"/>
          </a:solidFill>
          <a:ln w="1016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50200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34E"/>
                </a:solidFill>
                <a:latin typeface="Palatino Linotype"/>
              </a:rPr>
              <a:t>Create Monitoring Schedule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5020056"/>
            <a:ext cx="6217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  <a:latin typeface="Palatino Linotype"/>
              </a:rPr>
              <a:t>Fix weekly and monthly review dates in the calendar.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669280"/>
            <a:ext cx="10725912" cy="594360"/>
          </a:xfrm>
          <a:prstGeom prst="rect">
            <a:avLst/>
          </a:prstGeom>
          <a:solidFill>
            <a:srgbClr val="1A234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742432"/>
            <a:ext cx="10543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E6A3"/>
                </a:solidFill>
                <a:latin typeface="Palatino Linotype"/>
              </a:rPr>
              <a:t>Each teacher leaves today with a clear, written Action Plan — not just inspiration.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508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noFill/>
          <a:ln w="15240">
            <a:solidFill>
              <a:srgbClr val="F5E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64008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87784" y="6656832"/>
            <a:ext cx="137160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342" y="1188720"/>
            <a:ext cx="8532266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342" y="5623560"/>
            <a:ext cx="8532266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720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F37"/>
                </a:solidFill>
                <a:latin typeface="Palatino Linotype"/>
              </a:rPr>
              <a:t>✦  Teacher's Pledge  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371600"/>
            <a:ext cx="99943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FFFFFF"/>
                </a:solidFill>
                <a:latin typeface="Palatino Linotype"/>
              </a:rPr>
              <a:t>"I will teach with PURPOSE,
assess with INTEGRITY,
monitor with DILIGENCE,
and support every learner
to achieve their highest potential."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 i="0">
                <a:solidFill>
                  <a:srgbClr val="D4AF37"/>
                </a:solidFill>
                <a:latin typeface="Palatino Linotype"/>
              </a:rPr>
              <a:t>"Every Child Matters  ·  Every Mark Matters  ·  Every Day Matters"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9204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E6A3"/>
                </a:solidFill>
                <a:latin typeface="Palatino Linotype"/>
              </a:rPr>
              <a:t>"Great results are not achieved by chance;
they are achieved by design, discipline, and dedication."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E6A3"/>
                </a:solidFill>
                <a:latin typeface="Palatino Linotype"/>
              </a:rPr>
              <a:t>From Effort to Excellence  •  Teacher Training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